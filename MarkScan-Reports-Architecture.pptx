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MarkScan Reports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FC0F5"/>
                </a:solidFill>
                <a:latin typeface="Segoe UI"/>
              </a:rPr>
              <a:t>System &amp;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520440"/>
            <a:ext cx="1828800" cy="381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8EE"/>
                </a:solidFill>
                <a:latin typeface="Segoe UI"/>
              </a:rPr>
              <a:t>AWS EC2  •  Cloudflare-protected  •  https://reports.markscan.co.in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BA3C4"/>
                </a:solidFill>
                <a:latin typeface="Segoe UI"/>
              </a:rPr>
              <a:t>Role-based access  ·  OTP authentication  ·  Per-account API entitlement  ·  Module permissions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846"/>
                </a:solidFill>
                <a:latin typeface="Segoe UI"/>
              </a:rPr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Segoe UI"/>
              </a:rPr>
              <a:t>Public traffic terminates at Cloudflare; the EC2 origin is never exposed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3716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417320" cy="1051560"/>
          </a:xfrm>
          <a:prstGeom prst="roundRect">
            <a:avLst/>
          </a:prstGeom>
          <a:solidFill>
            <a:srgbClr val="F1F4F8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1B2E"/>
                </a:solidFill>
                <a:latin typeface="Segoe UI"/>
              </a:rPr>
              <a:t>End Users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Browser / HTTPS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56432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Clients · Admins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Super Admins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834640"/>
            <a:ext cx="7772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47088" y="2542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HTTPS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2194560" cy="3246120"/>
          </a:xfrm>
          <a:prstGeom prst="roundRect">
            <a:avLst/>
          </a:prstGeom>
          <a:solidFill>
            <a:srgbClr val="FDF0E3"/>
          </a:solidFill>
          <a:ln w="13970">
            <a:solidFill>
              <a:srgbClr val="F3802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61488" y="161848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38020"/>
                </a:solidFill>
                <a:latin typeface="Segoe UI"/>
              </a:rPr>
              <a:t>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965960"/>
            <a:ext cx="19202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38020"/>
                </a:solidFill>
                <a:latin typeface="Segoe UI"/>
              </a:rPr>
              <a:t>Cloudflare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reports.markscan.co.in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971800"/>
            <a:ext cx="192024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>
                <a:solidFill>
                  <a:srgbClr val="F38020"/>
                </a:solidFill>
                <a:latin typeface="Segoe UI"/>
              </a:rPr>
              <a:t>TLS / SSL termination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355848"/>
            <a:ext cx="192024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>
                <a:solidFill>
                  <a:srgbClr val="F38020"/>
                </a:solidFill>
                <a:latin typeface="Segoe UI"/>
              </a:rPr>
              <a:t>WAF + DDoS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739896"/>
            <a:ext cx="192024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>
                <a:solidFill>
                  <a:srgbClr val="F38020"/>
                </a:solidFill>
                <a:latin typeface="Segoe UI"/>
              </a:rPr>
              <a:t>Origin IP masking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123944"/>
            <a:ext cx="192024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50" b="1">
                <a:solidFill>
                  <a:srgbClr val="F38020"/>
                </a:solidFill>
                <a:latin typeface="Segoe UI"/>
              </a:rPr>
              <a:t>DNS proxy  ·  CDN 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2834640"/>
            <a:ext cx="777240" cy="0"/>
          </a:xfrm>
          <a:prstGeom prst="line">
            <a:avLst/>
          </a:prstGeom>
          <a:ln w="22225">
            <a:solidFill>
              <a:srgbClr val="F38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09160" y="2523744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38020"/>
                </a:solidFill>
                <a:latin typeface="Segoe UI"/>
              </a:rPr>
              <a:t>Origin pull</a:t>
            </a:r>
          </a:p>
          <a:p>
            <a:pPr algn="ctr"/>
            <a:r>
              <a:rPr sz="800" b="0">
                <a:solidFill>
                  <a:srgbClr val="F38020"/>
                </a:solidFill>
                <a:latin typeface="Segoe UI"/>
              </a:rPr>
              <a:t>(allow-listed)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170432"/>
            <a:ext cx="3246120" cy="4160520"/>
          </a:xfrm>
          <a:prstGeom prst="roundRect">
            <a:avLst/>
          </a:prstGeom>
          <a:solidFill>
            <a:srgbClr val="FDF5E7"/>
          </a:solidFill>
          <a:ln w="13970">
            <a:solidFill>
              <a:srgbClr val="EC912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87568" y="1234440"/>
            <a:ext cx="3026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EC912D"/>
                </a:solidFill>
                <a:latin typeface="Segoe UI"/>
              </a:rPr>
              <a:t>AWS EC2  ·  Docker Compose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572768"/>
            <a:ext cx="292608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F1B2E"/>
                </a:solidFill>
                <a:latin typeface="Segoe UI"/>
              </a:rPr>
              <a:t>Go API Server  :8080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net/http  ·  JWT auth  ·  rate limiting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2359152"/>
            <a:ext cx="29260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F1B2E"/>
                </a:solidFill>
                <a:latin typeface="Segoe UI"/>
              </a:rPr>
              <a:t>React SPA (Vite build)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served as static /dist by 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090672"/>
            <a:ext cx="1389888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F1B2E"/>
                </a:solidFill>
                <a:latin typeface="Segoe UI"/>
              </a:rPr>
              <a:t>Redis 7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War Room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8624" y="3090672"/>
            <a:ext cx="1389888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F1B2E"/>
                </a:solidFill>
                <a:latin typeface="Segoe UI"/>
              </a:rPr>
              <a:t>MySQL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users · permissions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42432" y="3877056"/>
            <a:ext cx="292608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00" b="1">
                <a:solidFill>
                  <a:srgbClr val="64748B"/>
                </a:solidFill>
                <a:latin typeface="Segoe UI"/>
              </a:rPr>
              <a:t>HttpOnly JWT cookie (HS256)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42432" y="4242816"/>
            <a:ext cx="292608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00" b="1">
                <a:solidFill>
                  <a:srgbClr val="64748B"/>
                </a:solidFill>
                <a:latin typeface="Segoe UI"/>
              </a:rPr>
              <a:t>AES-encrypted API credentials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42432" y="4608576"/>
            <a:ext cx="2926080" cy="2377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00" b="1">
                <a:solidFill>
                  <a:srgbClr val="64748B"/>
                </a:solidFill>
                <a:latin typeface="Segoe UI"/>
              </a:rPr>
              <a:t>Maintenance gate  ·  idle timeout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3960" y="2834640"/>
            <a:ext cx="7315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09760" y="1417320"/>
            <a:ext cx="2194560" cy="3520440"/>
          </a:xfrm>
          <a:prstGeom prst="roundRect">
            <a:avLst/>
          </a:prstGeom>
          <a:solidFill>
            <a:srgbClr val="F1EAFE"/>
          </a:solidFill>
          <a:ln w="13970">
            <a:solidFill>
              <a:srgbClr val="7C3AE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19488" y="148132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Segoe UI"/>
              </a:rPr>
              <a:t>EXTERNAL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1828800"/>
            <a:ext cx="192024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7C3AED"/>
                </a:solidFill>
                <a:latin typeface="Segoe UI"/>
              </a:rPr>
              <a:t>MarkScan API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api.markscan.co.in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2587752"/>
            <a:ext cx="192024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F6FED"/>
                </a:solidFill>
                <a:latin typeface="Segoe UI"/>
              </a:rPr>
              <a:t>Microsoft Power BI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embed tokens · datasets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3346704"/>
            <a:ext cx="192024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59E5F"/>
                </a:solidFill>
                <a:latin typeface="Segoe UI"/>
              </a:rPr>
              <a:t>AWS SES / SMTP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OTP + notifications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4105656"/>
            <a:ext cx="192024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EC912D"/>
                </a:solidFill>
                <a:latin typeface="Segoe UI"/>
              </a:rPr>
              <a:t>AWS S3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database backups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692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Only Cloudflare talks to the EC2 origin — the public IP is masked, so the portal is reachable exclusively over https://reports.markscan.co.in.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846"/>
                </a:solidFill>
                <a:latin typeface="Segoe UI"/>
              </a:rPr>
              <a:t>Authentication &amp; Role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Segoe UI"/>
              </a:rPr>
              <a:t>One login page — the credential's role decides the destination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3716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6002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F6FED"/>
                </a:solidFill>
                <a:latin typeface="Segoe UI"/>
              </a:rPr>
              <a:t>Login Page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/login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3218688"/>
            <a:ext cx="731520" cy="0"/>
          </a:xfrm>
          <a:prstGeom prst="line">
            <a:avLst/>
          </a:prstGeom>
          <a:ln w="22225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2697480"/>
            <a:ext cx="1783080" cy="105156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F1B2E"/>
                </a:solidFill>
                <a:latin typeface="Segoe UI"/>
              </a:rPr>
              <a:t>Credential Check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bcrypt verify
+ role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8404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/api/auth/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check-multiple-logins</a:t>
            </a:r>
          </a:p>
        </p:txBody>
      </p:sp>
      <p:sp>
        <p:nvSpPr>
          <p:cNvPr id="9" name="Diamond 8"/>
          <p:cNvSpPr/>
          <p:nvPr/>
        </p:nvSpPr>
        <p:spPr>
          <a:xfrm>
            <a:off x="4846320" y="2606040"/>
            <a:ext cx="1417320" cy="12344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42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42846"/>
                </a:solidFill>
                <a:latin typeface="Segoe UI"/>
              </a:rPr>
              <a:t>Role?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577840" y="1417320"/>
            <a:ext cx="0" cy="1188720"/>
          </a:xfrm>
          <a:prstGeom prst="line">
            <a:avLst/>
          </a:prstGeom>
          <a:ln w="22225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18688"/>
            <a:ext cx="914400" cy="0"/>
          </a:xfrm>
          <a:prstGeom prst="line">
            <a:avLst/>
          </a:prstGeom>
          <a:ln w="22225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3840480"/>
            <a:ext cx="0" cy="114300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0" y="1051560"/>
            <a:ext cx="1965960" cy="731520"/>
          </a:xfrm>
          <a:prstGeom prst="roundRect">
            <a:avLst/>
          </a:prstGeom>
          <a:solidFill>
            <a:srgbClr val="E7F6EE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59E5F"/>
                </a:solidFill>
                <a:latin typeface="Segoe UI"/>
              </a:rPr>
              <a:t>CLIENT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role =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59E5F"/>
                </a:solidFill>
                <a:latin typeface="Segoe UI"/>
              </a:rPr>
              <a:t>client 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051560"/>
            <a:ext cx="23317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B2E"/>
                </a:solidFill>
                <a:latin typeface="Segoe UI"/>
              </a:rPr>
              <a:t>OTP verification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/verify-email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1417320"/>
            <a:ext cx="228600" cy="0"/>
          </a:xfrm>
          <a:prstGeom prst="line">
            <a:avLst/>
          </a:prstGeom>
          <a:ln w="22225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965960"/>
            <a:ext cx="23317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B2E"/>
                </a:solidFill>
                <a:latin typeface="Segoe UI"/>
              </a:rPr>
              <a:t>Account selection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/client-selection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88168" y="1783080"/>
            <a:ext cx="0" cy="182880"/>
          </a:xfrm>
          <a:prstGeom prst="line">
            <a:avLst/>
          </a:prstGeom>
          <a:ln w="22225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26880" y="2880360"/>
            <a:ext cx="2331720" cy="731520"/>
          </a:xfrm>
          <a:prstGeom prst="roundRect">
            <a:avLst/>
          </a:prstGeom>
          <a:solidFill>
            <a:srgbClr val="E7F6EE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B2E"/>
                </a:solidFill>
                <a:latin typeface="Segoe UI"/>
              </a:rPr>
              <a:t>Client Dashboard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/dashboard  → see next slide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88168" y="2697480"/>
            <a:ext cx="0" cy="182880"/>
          </a:xfrm>
          <a:prstGeom prst="line">
            <a:avLst/>
          </a:prstGeom>
          <a:ln w="22225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0" y="2852928"/>
            <a:ext cx="1965960" cy="73152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F6FED"/>
                </a:solidFill>
                <a:latin typeface="Segoe UI"/>
              </a:rPr>
              <a:t>ADMIN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role 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794760"/>
            <a:ext cx="2331720" cy="73152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B2E"/>
                </a:solidFill>
                <a:latin typeface="Segoe UI"/>
              </a:rPr>
              <a:t>Admin Console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/admin/home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3218688"/>
            <a:ext cx="594360" cy="0"/>
          </a:xfrm>
          <a:prstGeom prst="line">
            <a:avLst/>
          </a:prstGeom>
          <a:ln w="22225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2640" y="3218688"/>
            <a:ext cx="0" cy="576072"/>
          </a:xfrm>
          <a:prstGeom prst="line">
            <a:avLst/>
          </a:prstGeom>
          <a:ln w="22225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32320" y="4617720"/>
            <a:ext cx="1965960" cy="731520"/>
          </a:xfrm>
          <a:prstGeom prst="roundRect">
            <a:avLst/>
          </a:prstGeom>
          <a:solidFill>
            <a:srgbClr val="F1EAFE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7C3AED"/>
                </a:solidFill>
                <a:latin typeface="Segoe UI"/>
              </a:rPr>
              <a:t>SUPER ADMIN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role =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77840" y="4983480"/>
            <a:ext cx="1554480" cy="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26880" y="4617720"/>
            <a:ext cx="2331720" cy="731520"/>
          </a:xfrm>
          <a:prstGeom prst="roundRect">
            <a:avLst/>
          </a:prstGeom>
          <a:solidFill>
            <a:srgbClr val="F1EAFE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B2E"/>
                </a:solidFill>
                <a:latin typeface="Segoe UI"/>
              </a:rPr>
              <a:t>Full Control Console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/admin/home + /admin/super-admin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4983480"/>
            <a:ext cx="228600" cy="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45262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Session issued as an HttpOnly JWT cookie (HS256).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Route guards run on the client for UX and are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re-enforced on every Go API endpoint.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32120"/>
            <a:ext cx="4023360" cy="237744"/>
          </a:xfrm>
          <a:prstGeom prst="roundRect">
            <a:avLst/>
          </a:prstGeom>
          <a:solidFill>
            <a:srgbClr val="F1F4F8"/>
          </a:solidFill>
          <a:ln w="11430">
            <a:solidFill>
              <a:srgbClr val="142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142846"/>
                </a:solidFill>
                <a:latin typeface="Segoe UI"/>
              </a:rPr>
              <a:t>Optional staff OTP can be enabled per Admin / Super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846"/>
                </a:solidFill>
                <a:latin typeface="Segoe UI"/>
              </a:rPr>
              <a:t>Client Journey — Layered Entitlement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Segoe UI"/>
              </a:rPr>
              <a:t>Each gate must pass before the next unlocks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3716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103120" cy="86868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1B2E"/>
                </a:solidFill>
                <a:latin typeface="Segoe UI"/>
              </a:rPr>
              <a:t>1 · Client Login</a:t>
            </a:r>
          </a:p>
          <a:p>
            <a:pPr algn="ctr"/>
            <a:r>
              <a:rPr sz="950" b="0">
                <a:solidFill>
                  <a:srgbClr val="2F6FED"/>
                </a:solidFill>
                <a:latin typeface="Segoe UI"/>
              </a:rPr>
              <a:t>email + password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00200"/>
            <a:ext cx="2103120" cy="868680"/>
          </a:xfrm>
          <a:prstGeom prst="roundRect">
            <a:avLst/>
          </a:prstGeom>
          <a:solidFill>
            <a:srgbClr val="E7F6EE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1B2E"/>
                </a:solidFill>
                <a:latin typeface="Segoe UI"/>
              </a:rPr>
              <a:t>2 · OTP Verification</a:t>
            </a:r>
          </a:p>
          <a:p>
            <a:pPr algn="ctr"/>
            <a:r>
              <a:rPr sz="950" b="0">
                <a:solidFill>
                  <a:srgbClr val="159E5F"/>
                </a:solidFill>
                <a:latin typeface="Segoe UI"/>
              </a:rPr>
              <a:t>6-digit code · 10 min TTL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600200"/>
            <a:ext cx="2103120" cy="868680"/>
          </a:xfrm>
          <a:prstGeom prst="roundRect">
            <a:avLst/>
          </a:prstGeom>
          <a:solidFill>
            <a:srgbClr val="E4F4F4"/>
          </a:solidFill>
          <a:ln w="15875">
            <a:solidFill>
              <a:srgbClr val="0E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1B2E"/>
                </a:solidFill>
                <a:latin typeface="Segoe UI"/>
              </a:rPr>
              <a:t>3 · Account Selection</a:t>
            </a:r>
          </a:p>
          <a:p>
            <a:pPr algn="ctr"/>
            <a:r>
              <a:rPr sz="950" b="0">
                <a:solidFill>
                  <a:srgbClr val="0E9194"/>
                </a:solidFill>
                <a:latin typeface="Segoe UI"/>
              </a:rPr>
              <a:t>one email → many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00200"/>
            <a:ext cx="2103120" cy="868680"/>
          </a:xfrm>
          <a:prstGeom prst="roundRect">
            <a:avLst/>
          </a:prstGeom>
          <a:solidFill>
            <a:srgbClr val="FDF0E3"/>
          </a:solidFill>
          <a:ln w="1587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1B2E"/>
                </a:solidFill>
                <a:latin typeface="Segoe UI"/>
              </a:rPr>
              <a:t>4 · API Entitlement</a:t>
            </a:r>
          </a:p>
          <a:p>
            <a:pPr algn="ctr"/>
            <a:r>
              <a:rPr sz="950" b="0">
                <a:solidFill>
                  <a:srgbClr val="F38020"/>
                </a:solidFill>
                <a:latin typeface="Segoe UI"/>
              </a:rPr>
              <a:t>api_user_name + api_password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39" y="2034540"/>
            <a:ext cx="320041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2034540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359" y="2034540"/>
            <a:ext cx="320041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26060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Verified against the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user store; failed attempts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are rate-limited per 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060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Code emailed via AWS SES.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Constant-time compare,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attempt cap, expiry check.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060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Client picks which brand /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account to work in. Can be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switched later anytime.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0604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Selected account must have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API credentials enabled to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reach MarkScan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429000"/>
            <a:ext cx="10515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59E5F"/>
                </a:solidFill>
                <a:latin typeface="Segoe UI"/>
              </a:rPr>
              <a:t>Enabled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429000"/>
            <a:ext cx="1097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D93B3B"/>
                </a:solidFill>
                <a:latin typeface="Segoe UI"/>
              </a:rPr>
              <a:t>Not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5020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59E5F"/>
                </a:solidFill>
                <a:latin typeface="Segoe UI"/>
              </a:rPr>
              <a:t>Full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95020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D93B3B"/>
                </a:solidFill>
                <a:latin typeface="Segoe UI"/>
              </a:rPr>
              <a:t>Limited access</a:t>
            </a:r>
          </a:p>
          <a:p>
            <a:pPr algn="ctr"/>
            <a:r>
              <a:rPr sz="800" b="0">
                <a:solidFill>
                  <a:srgbClr val="D93B3B"/>
                </a:solidFill>
                <a:latin typeface="Segoe UI"/>
              </a:rPr>
              <a:t>(dashboard only)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293608" y="2468880"/>
            <a:ext cx="530352" cy="960120"/>
          </a:xfrm>
          <a:prstGeom prst="line">
            <a:avLst/>
          </a:prstGeom>
          <a:ln w="15875">
            <a:solidFill>
              <a:srgbClr val="F38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23960" y="2468880"/>
            <a:ext cx="731520" cy="960120"/>
          </a:xfrm>
          <a:prstGeom prst="line">
            <a:avLst/>
          </a:prstGeom>
          <a:ln w="15875">
            <a:solidFill>
              <a:srgbClr val="D93B3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4526280"/>
            <a:ext cx="11201400" cy="1783080"/>
          </a:xfrm>
          <a:prstGeom prst="roundRect">
            <a:avLst/>
          </a:prstGeom>
          <a:solidFill>
            <a:srgbClr val="F1F4F8"/>
          </a:solidFill>
          <a:ln w="13970">
            <a:solidFill>
              <a:srgbClr val="14284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2648" y="4590288"/>
            <a:ext cx="10981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42846"/>
                </a:solidFill>
                <a:latin typeface="Segoe UI"/>
              </a:rPr>
              <a:t>5 · MODULE PERMISSIONS  —  granted per login by an 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83480"/>
            <a:ext cx="2084831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F6FED"/>
                </a:solidFill>
                <a:latin typeface="Segoe UI"/>
              </a:rPr>
              <a:t>War Room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live infringement 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983480"/>
            <a:ext cx="2084831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F6FED"/>
                </a:solidFill>
                <a:latin typeface="Segoe UI"/>
              </a:rPr>
              <a:t>Approvals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QC + infringement sign-off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4983480"/>
            <a:ext cx="2084831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F6FED"/>
                </a:solidFill>
                <a:latin typeface="Segoe UI"/>
              </a:rPr>
              <a:t>IP Tracking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asset tracking 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79" y="4983480"/>
            <a:ext cx="2084831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F6FED"/>
                </a:solidFill>
                <a:latin typeface="Segoe UI"/>
              </a:rPr>
              <a:t>Find Infringements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search &amp; case 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983480"/>
            <a:ext cx="2084831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F6FED"/>
                </a:solidFill>
                <a:latin typeface="Segoe UI"/>
              </a:rPr>
              <a:t>Reporting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download requests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93608" y="3931920"/>
            <a:ext cx="0" cy="594360"/>
          </a:xfrm>
          <a:prstGeom prst="line">
            <a:avLst/>
          </a:prstGeom>
          <a:ln w="19050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Dashboard is always available. Every other module is default-deny: it appears only if the Admin has granted that module to the selected login, and the Go API re-checks the grant on each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846"/>
                </a:solidFill>
                <a:latin typeface="Segoe UI"/>
              </a:rPr>
              <a:t>Admin &amp; Super Admin Control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Segoe UI"/>
              </a:rPr>
              <a:t>Super Admin governs Admins; Admins govern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3716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520440" cy="4480560"/>
          </a:xfrm>
          <a:prstGeom prst="roundRect">
            <a:avLst/>
          </a:prstGeom>
          <a:solidFill>
            <a:srgbClr val="F1EAFE"/>
          </a:solidFill>
          <a:ln w="13970">
            <a:solidFill>
              <a:srgbClr val="7C3AE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Segoe UI"/>
              </a:rPr>
              <a:t>SUPER ADMIN  ·  role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15468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7C3AED"/>
                </a:solidFill>
                <a:latin typeface="Segoe UI"/>
              </a:rPr>
              <a:t>Full Platform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61488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Create Admins &amp; grant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Share configuration modules with Admins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9312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Manage all clients &amp; client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78224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Active sessions · force logout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17136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Maintenance mode · staff OTP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56048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Database backup · AWS credentials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94960"/>
            <a:ext cx="315468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Everything an Admin can 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3749039"/>
            <a:ext cx="594360" cy="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13632" y="34290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C3AED"/>
                </a:solidFill>
                <a:latin typeface="Segoe UI"/>
              </a:rPr>
              <a:t>grants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554480"/>
            <a:ext cx="3703320" cy="4480560"/>
          </a:xfrm>
          <a:prstGeom prst="roundRect">
            <a:avLst/>
          </a:prstGeom>
          <a:solidFill>
            <a:srgbClr val="E8F0FE"/>
          </a:solidFill>
          <a:ln w="13970">
            <a:solidFill>
              <a:srgbClr val="2F6FE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81728" y="1618488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F6FED"/>
                </a:solidFill>
                <a:latin typeface="Segoe UI"/>
              </a:rPr>
              <a:t>ADMIN  ·  role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965960"/>
            <a:ext cx="333756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2F6FED"/>
                </a:solidFill>
                <a:latin typeface="Segoe UI"/>
              </a:rPr>
              <a:t>Permission-Based Console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/admin/configuration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724912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Sees ONLY the configuration modules a Super Admin has granted — default-deny: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246120"/>
            <a:ext cx="333756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2F6FED"/>
                </a:solidFill>
                <a:latin typeface="Segoe UI"/>
              </a:rPr>
              <a:t>Client &amp; user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685031"/>
            <a:ext cx="333756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2F6FED"/>
                </a:solidFill>
                <a:latin typeface="Segoe UI"/>
              </a:rPr>
              <a:t>API credentials per client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123944"/>
            <a:ext cx="333756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2F6FED"/>
                </a:solidFill>
                <a:latin typeface="Segoe UI"/>
              </a:rPr>
              <a:t>Module permissions (client access)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4562856"/>
            <a:ext cx="333756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2F6FED"/>
                </a:solidFill>
                <a:latin typeface="Segoe UI"/>
              </a:rPr>
              <a:t>Power BI creds · workspaces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001768"/>
            <a:ext cx="333756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2F6FED"/>
                </a:solidFill>
                <a:latin typeface="Segoe UI"/>
              </a:rPr>
              <a:t>Email templates &amp; 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440679"/>
            <a:ext cx="333756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2F6FED"/>
                </a:solidFill>
                <a:latin typeface="Segoe UI"/>
              </a:rPr>
              <a:t>Idle timeout · registration requests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3749039"/>
            <a:ext cx="594360" cy="0"/>
          </a:xfrm>
          <a:prstGeom prst="line">
            <a:avLst/>
          </a:prstGeom>
          <a:ln w="22225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65592" y="34290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2F6FED"/>
                </a:solidFill>
                <a:latin typeface="Segoe UI"/>
              </a:rPr>
              <a:t>assigns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1554480"/>
            <a:ext cx="2880360" cy="4480560"/>
          </a:xfrm>
          <a:prstGeom prst="roundRect">
            <a:avLst/>
          </a:prstGeom>
          <a:solidFill>
            <a:srgbClr val="E7F6EE"/>
          </a:solidFill>
          <a:ln w="13970">
            <a:solidFill>
              <a:srgbClr val="159E5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933688" y="1618488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59E5F"/>
                </a:solidFill>
                <a:latin typeface="Segoe UI"/>
              </a:rPr>
              <a:t>CLIENT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1965960"/>
            <a:ext cx="251460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59E5F"/>
                </a:solidFill>
                <a:latin typeface="Segoe UI"/>
              </a:rPr>
              <a:t>Scoped Workspace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/dashboard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761488"/>
            <a:ext cx="251460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159E5F"/>
                </a:solidFill>
                <a:latin typeface="Segoe UI"/>
              </a:rPr>
              <a:t>Selected account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3200400"/>
            <a:ext cx="251460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159E5F"/>
                </a:solidFill>
                <a:latin typeface="Segoe UI"/>
              </a:rPr>
              <a:t>API entitlement required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639312"/>
            <a:ext cx="251460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159E5F"/>
                </a:solidFill>
                <a:latin typeface="Segoe UI"/>
              </a:rPr>
              <a:t>Granted modules only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4078224"/>
            <a:ext cx="2514600" cy="3474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1">
                <a:solidFill>
                  <a:srgbClr val="159E5F"/>
                </a:solidFill>
                <a:latin typeface="Segoe UI"/>
              </a:rPr>
              <a:t>Switch account anytime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4617720"/>
            <a:ext cx="25146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F1B2E"/>
                </a:solidFill>
                <a:latin typeface="Segoe UI"/>
              </a:rPr>
              <a:t>Impersonation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Admins can "view as client"
for support — the session is
tagged and auditable.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Authority flows one way. Client-side guards shape the UI; the Go server independently re-validates role and module grants on every endpoint, so a hidden button is also a blocked API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846"/>
                </a:solidFill>
                <a:latin typeface="Segoe UI"/>
              </a:rPr>
              <a:t>End-to-End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Segoe UI"/>
              </a:rPr>
              <a:t>From browser to data source — every hop and every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3716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325880" cy="65836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87168"/>
            <a:ext cx="1325880" cy="658368"/>
          </a:xfrm>
          <a:prstGeom prst="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28416"/>
            <a:ext cx="1325880" cy="658368"/>
          </a:xfrm>
          <a:prstGeom prst="rect">
            <a:avLst/>
          </a:prstGeom>
          <a:solidFill>
            <a:srgbClr val="15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9663"/>
            <a:ext cx="1325880" cy="65836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AUTHORIZATION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010912"/>
            <a:ext cx="1325880" cy="658368"/>
          </a:xfrm>
          <a:prstGeom prst="rect">
            <a:avLst/>
          </a:prstGeom>
          <a:solidFill>
            <a:srgbClr val="0E9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645920"/>
            <a:ext cx="2377440" cy="658368"/>
          </a:xfrm>
          <a:prstGeom prst="roundRect">
            <a:avLst/>
          </a:prstGeom>
          <a:solidFill>
            <a:srgbClr val="FDF0E3"/>
          </a:solidFill>
          <a:ln w="1270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User → reports.markscan.co.in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645920"/>
            <a:ext cx="2194560" cy="658368"/>
          </a:xfrm>
          <a:prstGeom prst="roundRect">
            <a:avLst/>
          </a:prstGeom>
          <a:solidFill>
            <a:srgbClr val="FDF0E3"/>
          </a:solidFill>
          <a:ln w="1270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Cloudflare TLS + WAF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93992" y="1645920"/>
            <a:ext cx="2103120" cy="658368"/>
          </a:xfrm>
          <a:prstGeom prst="roundRect">
            <a:avLst/>
          </a:prstGeom>
          <a:solidFill>
            <a:srgbClr val="FDF0E3"/>
          </a:solidFill>
          <a:ln w="1270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Origin pull to EC2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1645920"/>
            <a:ext cx="2286000" cy="658368"/>
          </a:xfrm>
          <a:prstGeom prst="roundRect">
            <a:avLst/>
          </a:prstGeom>
          <a:solidFill>
            <a:srgbClr val="FDF0E3"/>
          </a:solidFill>
          <a:ln w="1270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Public IP never exposed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1975104"/>
            <a:ext cx="128016" cy="0"/>
          </a:xfrm>
          <a:prstGeom prst="line">
            <a:avLst/>
          </a:prstGeom>
          <a:ln w="15240">
            <a:solidFill>
              <a:srgbClr val="F38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65976" y="1975104"/>
            <a:ext cx="128016" cy="0"/>
          </a:xfrm>
          <a:prstGeom prst="line">
            <a:avLst/>
          </a:prstGeom>
          <a:ln w="15240">
            <a:solidFill>
              <a:srgbClr val="F38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97112" y="1975104"/>
            <a:ext cx="128016" cy="0"/>
          </a:xfrm>
          <a:prstGeom prst="line">
            <a:avLst/>
          </a:prstGeom>
          <a:ln w="15240">
            <a:solidFill>
              <a:srgbClr val="F38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65960" y="2487168"/>
            <a:ext cx="2377440" cy="658368"/>
          </a:xfrm>
          <a:prstGeom prst="roundRect">
            <a:avLst/>
          </a:prstGeom>
          <a:solidFill>
            <a:srgbClr val="FDF5E7"/>
          </a:solidFill>
          <a:ln w="12700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React SPA loads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2487168"/>
            <a:ext cx="2194560" cy="658368"/>
          </a:xfrm>
          <a:prstGeom prst="roundRect">
            <a:avLst/>
          </a:prstGeom>
          <a:solidFill>
            <a:srgbClr val="FDF5E7"/>
          </a:solidFill>
          <a:ln w="12700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Go server :8080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3992" y="2487168"/>
            <a:ext cx="2103120" cy="658368"/>
          </a:xfrm>
          <a:prstGeom prst="roundRect">
            <a:avLst/>
          </a:prstGeom>
          <a:solidFill>
            <a:srgbClr val="FDF5E7"/>
          </a:solidFill>
          <a:ln w="12700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Rate limit + maintenance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2487168"/>
            <a:ext cx="2286000" cy="658368"/>
          </a:xfrm>
          <a:prstGeom prst="roundRect">
            <a:avLst/>
          </a:prstGeom>
          <a:solidFill>
            <a:srgbClr val="FDF5E7"/>
          </a:solidFill>
          <a:ln w="12700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Idle-timeout policy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43400" y="2816352"/>
            <a:ext cx="128016" cy="0"/>
          </a:xfrm>
          <a:prstGeom prst="line">
            <a:avLst/>
          </a:prstGeom>
          <a:ln w="15240">
            <a:solidFill>
              <a:srgbClr val="EC91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65976" y="2816352"/>
            <a:ext cx="128016" cy="0"/>
          </a:xfrm>
          <a:prstGeom prst="line">
            <a:avLst/>
          </a:prstGeom>
          <a:ln w="15240">
            <a:solidFill>
              <a:srgbClr val="EC91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97112" y="2816352"/>
            <a:ext cx="128016" cy="0"/>
          </a:xfrm>
          <a:prstGeom prst="line">
            <a:avLst/>
          </a:prstGeom>
          <a:ln w="15240">
            <a:solidFill>
              <a:srgbClr val="EC91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965960" y="3328416"/>
            <a:ext cx="2377440" cy="65836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Password verified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328416"/>
            <a:ext cx="2194560" cy="65836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OTP emailed via 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93992" y="3328416"/>
            <a:ext cx="2103120" cy="65836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JWT cookie issued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5128" y="3328416"/>
            <a:ext cx="2286000" cy="65836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15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Role: client / admin / super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43400" y="3657600"/>
            <a:ext cx="128016" cy="0"/>
          </a:xfrm>
          <a:prstGeom prst="line">
            <a:avLst/>
          </a:prstGeom>
          <a:ln w="15240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65976" y="3657600"/>
            <a:ext cx="128016" cy="0"/>
          </a:xfrm>
          <a:prstGeom prst="line">
            <a:avLst/>
          </a:prstGeom>
          <a:ln w="15240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97112" y="3657600"/>
            <a:ext cx="128016" cy="0"/>
          </a:xfrm>
          <a:prstGeom prst="line">
            <a:avLst/>
          </a:prstGeom>
          <a:ln w="15240">
            <a:solidFill>
              <a:srgbClr val="159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65960" y="4169663"/>
            <a:ext cx="2377440" cy="65836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Account selected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71416" y="4169663"/>
            <a:ext cx="2194560" cy="65836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API credentials resolved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93992" y="4169663"/>
            <a:ext cx="2103120" cy="65836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Module grants loaded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4169663"/>
            <a:ext cx="2286000" cy="65836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Server re-checks per call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43400" y="4498848"/>
            <a:ext cx="128016" cy="0"/>
          </a:xfrm>
          <a:prstGeom prst="line">
            <a:avLst/>
          </a:prstGeom>
          <a:ln w="15240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65976" y="4498848"/>
            <a:ext cx="128016" cy="0"/>
          </a:xfrm>
          <a:prstGeom prst="line">
            <a:avLst/>
          </a:prstGeom>
          <a:ln w="15240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97112" y="4498848"/>
            <a:ext cx="128016" cy="0"/>
          </a:xfrm>
          <a:prstGeom prst="line">
            <a:avLst/>
          </a:prstGeom>
          <a:ln w="15240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965960" y="5010912"/>
            <a:ext cx="2377440" cy="658368"/>
          </a:xfrm>
          <a:prstGeom prst="roundRect">
            <a:avLst/>
          </a:prstGeom>
          <a:solidFill>
            <a:srgbClr val="E4F4F4"/>
          </a:solidFill>
          <a:ln w="12700">
            <a:solidFill>
              <a:srgbClr val="0E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MySQL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71416" y="5010912"/>
            <a:ext cx="2194560" cy="658368"/>
          </a:xfrm>
          <a:prstGeom prst="roundRect">
            <a:avLst/>
          </a:prstGeom>
          <a:solidFill>
            <a:srgbClr val="E4F4F4"/>
          </a:solidFill>
          <a:ln w="12700">
            <a:solidFill>
              <a:srgbClr val="0E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Redis cache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93992" y="5010912"/>
            <a:ext cx="2103120" cy="658368"/>
          </a:xfrm>
          <a:prstGeom prst="roundRect">
            <a:avLst/>
          </a:prstGeom>
          <a:solidFill>
            <a:srgbClr val="E4F4F4"/>
          </a:solidFill>
          <a:ln w="12700">
            <a:solidFill>
              <a:srgbClr val="0E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MarkScan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5010912"/>
            <a:ext cx="2286000" cy="658368"/>
          </a:xfrm>
          <a:prstGeom prst="roundRect">
            <a:avLst/>
          </a:prstGeom>
          <a:solidFill>
            <a:srgbClr val="E4F4F4"/>
          </a:solidFill>
          <a:ln w="12700">
            <a:solidFill>
              <a:srgbClr val="0E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0F1B2E"/>
                </a:solidFill>
                <a:latin typeface="Segoe UI"/>
              </a:rPr>
              <a:t>Power BI embed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43400" y="5340096"/>
            <a:ext cx="128016" cy="0"/>
          </a:xfrm>
          <a:prstGeom prst="line">
            <a:avLst/>
          </a:prstGeom>
          <a:ln w="15240">
            <a:solidFill>
              <a:srgbClr val="0E9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665976" y="5340096"/>
            <a:ext cx="128016" cy="0"/>
          </a:xfrm>
          <a:prstGeom prst="line">
            <a:avLst/>
          </a:prstGeom>
          <a:ln w="15240">
            <a:solidFill>
              <a:srgbClr val="0E9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897112" y="5340096"/>
            <a:ext cx="128016" cy="0"/>
          </a:xfrm>
          <a:prstGeom prst="line">
            <a:avLst/>
          </a:prstGeom>
          <a:ln w="15240">
            <a:solidFill>
              <a:srgbClr val="0E9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70432" y="2304288"/>
            <a:ext cx="0" cy="182880"/>
          </a:xfrm>
          <a:prstGeom prst="line">
            <a:avLst/>
          </a:prstGeom>
          <a:ln w="1778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0432" y="3145536"/>
            <a:ext cx="0" cy="182880"/>
          </a:xfrm>
          <a:prstGeom prst="line">
            <a:avLst/>
          </a:prstGeom>
          <a:ln w="1778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70432" y="3986784"/>
            <a:ext cx="0" cy="182879"/>
          </a:xfrm>
          <a:prstGeom prst="line">
            <a:avLst/>
          </a:prstGeom>
          <a:ln w="1778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70432" y="4828031"/>
            <a:ext cx="0" cy="182881"/>
          </a:xfrm>
          <a:prstGeom prst="line">
            <a:avLst/>
          </a:prstGeom>
          <a:ln w="1778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2846"/>
                </a:solidFill>
                <a:latin typeface="Segoe UI"/>
              </a:rPr>
              <a:t>Result: a user only ever sees data for the account they selected, only through modules explicitly granted to them, only if that account carries active API credentials — reached only over Cloudflare-protected HTTPS.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